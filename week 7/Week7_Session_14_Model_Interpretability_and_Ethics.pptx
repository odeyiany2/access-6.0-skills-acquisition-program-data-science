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12</a:t>
            </a:r>
          </a:p>
          <a:p>
            <a:r>
              <a:t>Model Interpretability &amp; Ethics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ML decisions responsibly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model interpretability and explainability</a:t>
            </a:r>
          </a:p>
          <a:p>
            <a:r>
              <a:t>Interpret coefficients and feature importance</a:t>
            </a:r>
          </a:p>
          <a:p>
            <a:r>
              <a:t>Understand bias, ethics, and fairness in ML</a:t>
            </a:r>
          </a:p>
          <a:p>
            <a:r>
              <a:t>Explain why interpretability matters in finance</a:t>
            </a:r>
          </a:p>
          <a:p>
            <a:r>
              <a:t>Apply professional skepticism to ML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Opening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customer applies for a loan and gets rejected</a:t>
            </a:r>
          </a:p>
          <a:p>
            <a:r>
              <a:t>They ask: Why was I rejected?</a:t>
            </a:r>
          </a:p>
          <a:p>
            <a:r>
              <a:t>The bank replies: 'The model said no.'</a:t>
            </a:r>
          </a:p>
          <a:p>
            <a:r>
              <a:t>Is this acceptable?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Model Interpretability?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Ability to understand why a model made a prediction</a:t>
            </a:r>
          </a:p>
          <a:p>
            <a:r>
              <a:t>Helps humans trust and validate ML decisions</a:t>
            </a:r>
          </a:p>
          <a:p>
            <a:r>
              <a:t>Critical in high-stakes applications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Interpretability vs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More accurate models are not always better</a:t>
            </a:r>
          </a:p>
          <a:p>
            <a:r>
              <a:t>Simple models are often easier to explain</a:t>
            </a:r>
          </a:p>
          <a:p>
            <a:r>
              <a:t>Trade-off exists between transparency and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Regression: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Explains how features affect probability of an outcome</a:t>
            </a:r>
          </a:p>
          <a:p>
            <a:r>
              <a:t>Uses coefficients to show direction and strength</a:t>
            </a:r>
          </a:p>
          <a:p>
            <a:r>
              <a:t>Common in finance and risk modeling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Regression: Coefficients (Code)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/>
            <a:r>
              <a:rPr sz="1400">
                <a:latin typeface="Courier New"/>
              </a:rPr>
              <a:t>from sklearn.linear_model import LogisticRegression</a:t>
            </a:r>
            <a:br/>
            <a:br/>
            <a:r>
              <a:rPr sz="1400">
                <a:latin typeface="Courier New"/>
              </a:rPr>
              <a:t>logreg = LogisticRegression()</a:t>
            </a:r>
            <a:br/>
            <a:r>
              <a:rPr sz="1400">
                <a:latin typeface="Courier New"/>
              </a:rPr>
              <a:t>logreg.fit(X_train, y_train)</a:t>
            </a:r>
            <a:br/>
            <a:br/>
            <a:r>
              <a:rPr sz="1400">
                <a:latin typeface="Courier New"/>
              </a:rPr>
              <a:t>logreg.coef_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Regression: Example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/>
            <a:r>
              <a:rPr sz="1400">
                <a:latin typeface="Courier New"/>
              </a:rPr>
              <a:t>array([[ 0.85, -0.60, 1.20, 0.15 ]])</a:t>
            </a:r>
            <a:br/>
            <a:br/>
            <a:r>
              <a:rPr sz="1400">
                <a:latin typeface="Courier New"/>
              </a:rPr>
              <a:t>Features:</a:t>
            </a:r>
            <a:br/>
            <a:r>
              <a:rPr sz="1400">
                <a:latin typeface="Courier New"/>
              </a:rPr>
              <a:t>['income', 'debt', 'credit_score', 'employment_length']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Trees: Interpretability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simple yes/no rules</a:t>
            </a:r>
          </a:p>
          <a:p>
            <a:r>
              <a:t>Easy to visualize and explain</a:t>
            </a:r>
          </a:p>
          <a:p>
            <a:r>
              <a:t>Common in credit decision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Tree: Feature Importance (Code)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/>
            <a:r>
              <a:rPr sz="1400">
                <a:latin typeface="Courier New"/>
              </a:rPr>
              <a:t>from sklearn.tree import DecisionTreeClassifier</a:t>
            </a:r>
            <a:br/>
            <a:br/>
            <a:r>
              <a:rPr sz="1400">
                <a:latin typeface="Courier New"/>
              </a:rPr>
              <a:t>tree = DecisionTreeClassifier(max_depth=3)</a:t>
            </a:r>
            <a:br/>
            <a:r>
              <a:rPr sz="1400">
                <a:latin typeface="Courier New"/>
              </a:rPr>
              <a:t>tree.fit(X_train, y_train)</a:t>
            </a:r>
            <a:br/>
            <a:br/>
            <a:r>
              <a:rPr sz="1400">
                <a:latin typeface="Courier New"/>
              </a:rPr>
              <a:t>tree.feature_importances_</a:t>
            </a:r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Tree: Example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/>
            <a:r>
              <a:rPr sz="1400">
                <a:latin typeface="Courier New"/>
              </a:rPr>
              <a:t>array([0.45, 0.25, 0.20, 0.10])</a:t>
            </a:r>
            <a:br/>
            <a:br/>
            <a:r>
              <a:rPr sz="1400">
                <a:latin typeface="Courier New"/>
              </a:rPr>
              <a:t>Features:</a:t>
            </a:r>
            <a:br/>
            <a:r>
              <a:rPr sz="1400">
                <a:latin typeface="Courier New"/>
              </a:rPr>
              <a:t>['income', 'credit_score', 'debt', 'zip_code']</a:t>
            </a:r>
            <a:b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Forests: Interpretability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Ensemble of many decision trees</a:t>
            </a:r>
          </a:p>
          <a:p>
            <a:r>
              <a:t>More accurate than a single tree</a:t>
            </a:r>
          </a:p>
          <a:p>
            <a:r>
              <a:t>Less transparent than simple models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Forest: Feature Importance (Code)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/>
            <a:r>
              <a:rPr sz="1400">
                <a:latin typeface="Courier New"/>
              </a:rPr>
              <a:t>from sklearn.ensemble import RandomForestClassifier</a:t>
            </a:r>
            <a:br/>
            <a:br/>
            <a:r>
              <a:rPr sz="1400">
                <a:latin typeface="Courier New"/>
              </a:rPr>
              <a:t>rf = RandomForestClassifier(n_estimators=100)</a:t>
            </a:r>
            <a:br/>
            <a:r>
              <a:rPr sz="1400">
                <a:latin typeface="Courier New"/>
              </a:rPr>
              <a:t>rf.fit(X_train, y_train)</a:t>
            </a:r>
            <a:br/>
            <a:br/>
            <a:r>
              <a:rPr sz="1400">
                <a:latin typeface="Courier New"/>
              </a:rPr>
              <a:t>rf.feature_importances_</a:t>
            </a:r>
            <a:b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Forest: Example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/>
            <a:r>
              <a:rPr sz="1400">
                <a:latin typeface="Courier New"/>
              </a:rPr>
              <a:t>array([0.38, 0.30, 0.18, 0.14])</a:t>
            </a:r>
            <a:br/>
            <a:br/>
            <a:r>
              <a:rPr sz="1400">
                <a:latin typeface="Courier New"/>
              </a:rPr>
              <a:t>Features:</a:t>
            </a:r>
            <a:br/>
            <a:r>
              <a:rPr sz="1400">
                <a:latin typeface="Courier New"/>
              </a:rPr>
              <a:t>['credit_score', 'income', 'debt', 'employment_length']</a:t>
            </a:r>
            <a:b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 in Regulated Industries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Banking and finance</a:t>
            </a:r>
          </a:p>
          <a:p>
            <a:r>
              <a:t>Healthcare</a:t>
            </a:r>
          </a:p>
          <a:p>
            <a:r>
              <a:t>Insurance</a:t>
            </a:r>
          </a:p>
          <a:p>
            <a:r>
              <a:t>Hiring and admissions systems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Occurs when models disadvantage certain groups</a:t>
            </a:r>
          </a:p>
          <a:p>
            <a:r>
              <a:t>Often learned from historical data</a:t>
            </a:r>
          </a:p>
          <a:p>
            <a:r>
              <a:t>Can lead to unfair automated decisions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Skepticism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Does the result make sense?</a:t>
            </a:r>
          </a:p>
          <a:p>
            <a:r>
              <a:t>Who could be harmed by this model?</a:t>
            </a:r>
          </a:p>
          <a:p>
            <a:r>
              <a:t>Should this model be deployed?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alone is not enough</a:t>
            </a:r>
          </a:p>
          <a:p>
            <a:r>
              <a:t>Interpretability builds trust</a:t>
            </a:r>
          </a:p>
          <a:p>
            <a:r>
              <a:t>Ethical responsibility lies with data scientists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